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Lst>
  <p:sldSz cx="18288000" cy="10287000"/>
  <p:notesSz cx="6858000" cy="9144000"/>
  <p:embeddedFontLst>
    <p:embeddedFont>
      <p:font typeface="League Gothic" panose="020B0604020202020204" charset="0"/>
      <p:regular r:id="rId9"/>
    </p:embeddedFont>
    <p:embeddedFont>
      <p:font typeface="Canva Sans" panose="020B0604020202020204" charset="0"/>
      <p:regular r:id="rId10"/>
    </p:embeddedFont>
    <p:embeddedFont>
      <p:font typeface="Muli" panose="020B0604020202020204" charset="0"/>
      <p:regular r:id="rId11"/>
    </p:embeddedFont>
    <p:embeddedFont>
      <p:font typeface="Calibri" panose="020F0502020204030204" pitchFamily="34" charset="0"/>
      <p:regular r:id="rId12"/>
      <p:bold r:id="rId13"/>
      <p:italic r:id="rId14"/>
      <p:boldItalic r:id="rId1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43" d="100"/>
          <a:sy n="43" d="100"/>
        </p:scale>
        <p:origin x="700" y="4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5.fntdata"/><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4.fntdata"/><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3.fntdata"/><Relationship Id="rId5" Type="http://schemas.openxmlformats.org/officeDocument/2006/relationships/slide" Target="slides/slide4.xml"/><Relationship Id="rId15" Type="http://schemas.openxmlformats.org/officeDocument/2006/relationships/font" Target="fonts/font7.fntdata"/><Relationship Id="rId10" Type="http://schemas.openxmlformats.org/officeDocument/2006/relationships/font" Target="fonts/font2.fntdata"/><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font" Target="fonts/font1.fntdata"/><Relationship Id="rId14" Type="http://schemas.openxmlformats.org/officeDocument/2006/relationships/font" Target="fonts/font6.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10/8/2026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10/8/2026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10/8/2026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10/8/2026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10/8/2026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10/8/2026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10/8/2026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t="-9259" b="-9259"/>
              </a:stretch>
            </a:blipFill>
          </p:spPr>
        </p:sp>
      </p:grpSp>
      <p:sp>
        <p:nvSpPr>
          <p:cNvPr id="4" name="TextBox 4"/>
          <p:cNvSpPr txBox="1"/>
          <p:nvPr/>
        </p:nvSpPr>
        <p:spPr>
          <a:xfrm>
            <a:off x="2068484" y="3085890"/>
            <a:ext cx="13406319" cy="1702232"/>
          </a:xfrm>
          <a:prstGeom prst="rect">
            <a:avLst/>
          </a:prstGeom>
        </p:spPr>
        <p:txBody>
          <a:bodyPr lIns="0" tIns="0" rIns="0" bIns="0" rtlCol="0" anchor="t">
            <a:spAutoFit/>
          </a:bodyPr>
          <a:lstStyle/>
          <a:p>
            <a:pPr algn="ctr">
              <a:lnSpc>
                <a:spcPts val="13296"/>
              </a:lnSpc>
            </a:pPr>
            <a:r>
              <a:rPr lang="en-US" sz="11562">
                <a:solidFill>
                  <a:srgbClr val="FFFFFF"/>
                </a:solidFill>
                <a:latin typeface="League Gothic"/>
                <a:ea typeface="League Gothic"/>
                <a:cs typeface="League Gothic"/>
                <a:sym typeface="League Gothic"/>
              </a:rPr>
              <a:t>NYC VEHICLE COLLISION ANALYSIS</a:t>
            </a:r>
          </a:p>
        </p:txBody>
      </p:sp>
      <p:sp>
        <p:nvSpPr>
          <p:cNvPr id="5" name="TextBox 5"/>
          <p:cNvSpPr txBox="1"/>
          <p:nvPr/>
        </p:nvSpPr>
        <p:spPr>
          <a:xfrm>
            <a:off x="6511957" y="8899665"/>
            <a:ext cx="5264086" cy="304800"/>
          </a:xfrm>
          <a:prstGeom prst="rect">
            <a:avLst/>
          </a:prstGeom>
        </p:spPr>
        <p:txBody>
          <a:bodyPr lIns="0" tIns="0" rIns="0" bIns="0" rtlCol="0" anchor="t">
            <a:spAutoFit/>
          </a:bodyPr>
          <a:lstStyle/>
          <a:p>
            <a:pPr algn="ctr">
              <a:lnSpc>
                <a:spcPts val="2610"/>
              </a:lnSpc>
            </a:pPr>
            <a:r>
              <a:rPr lang="en-US" sz="1800" spc="378">
                <a:solidFill>
                  <a:srgbClr val="F4D314"/>
                </a:solidFill>
                <a:latin typeface="Muli"/>
                <a:ea typeface="Muli"/>
                <a:cs typeface="Muli"/>
                <a:sym typeface="Muli"/>
              </a:rPr>
              <a:t>1/08/2026</a:t>
            </a:r>
          </a:p>
        </p:txBody>
      </p:sp>
      <p:sp>
        <p:nvSpPr>
          <p:cNvPr id="6" name="TextBox 6"/>
          <p:cNvSpPr txBox="1"/>
          <p:nvPr/>
        </p:nvSpPr>
        <p:spPr>
          <a:xfrm>
            <a:off x="4892792" y="5124641"/>
            <a:ext cx="8502425" cy="547649"/>
          </a:xfrm>
          <a:prstGeom prst="rect">
            <a:avLst/>
          </a:prstGeom>
        </p:spPr>
        <p:txBody>
          <a:bodyPr lIns="0" tIns="0" rIns="0" bIns="0" rtlCol="0" anchor="t">
            <a:spAutoFit/>
          </a:bodyPr>
          <a:lstStyle/>
          <a:p>
            <a:pPr algn="ctr">
              <a:lnSpc>
                <a:spcPts val="4569"/>
              </a:lnSpc>
            </a:pPr>
            <a:r>
              <a:rPr lang="en-US" sz="3151" spc="472">
                <a:solidFill>
                  <a:srgbClr val="F4D314"/>
                </a:solidFill>
                <a:latin typeface="Muli"/>
                <a:ea typeface="Muli"/>
                <a:cs typeface="Muli"/>
                <a:sym typeface="Muli"/>
              </a:rPr>
              <a:t>DELVETEK INTERNS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t="-9259" b="-9259"/>
              </a:stretch>
            </a:blipFill>
          </p:spPr>
        </p:sp>
      </p:grpSp>
      <p:sp>
        <p:nvSpPr>
          <p:cNvPr id="4" name="TextBox 4"/>
          <p:cNvSpPr txBox="1"/>
          <p:nvPr/>
        </p:nvSpPr>
        <p:spPr>
          <a:xfrm>
            <a:off x="1626880" y="1162050"/>
            <a:ext cx="10565320" cy="2065582"/>
          </a:xfrm>
          <a:prstGeom prst="rect">
            <a:avLst/>
          </a:prstGeom>
        </p:spPr>
        <p:txBody>
          <a:bodyPr lIns="0" tIns="0" rIns="0" bIns="0" rtlCol="0" anchor="t">
            <a:spAutoFit/>
          </a:bodyPr>
          <a:lstStyle/>
          <a:p>
            <a:pPr algn="l">
              <a:lnSpc>
                <a:spcPts val="16616"/>
              </a:lnSpc>
            </a:pPr>
            <a:r>
              <a:rPr lang="en-US" sz="14449">
                <a:solidFill>
                  <a:srgbClr val="FFFFFF"/>
                </a:solidFill>
                <a:latin typeface="League Gothic"/>
                <a:ea typeface="League Gothic"/>
                <a:cs typeface="League Gothic"/>
                <a:sym typeface="League Gothic"/>
              </a:rPr>
              <a:t>INTRODUCTION</a:t>
            </a:r>
          </a:p>
        </p:txBody>
      </p:sp>
      <p:sp>
        <p:nvSpPr>
          <p:cNvPr id="5" name="TextBox 5"/>
          <p:cNvSpPr txBox="1"/>
          <p:nvPr/>
        </p:nvSpPr>
        <p:spPr>
          <a:xfrm>
            <a:off x="2215958" y="4555370"/>
            <a:ext cx="14261944" cy="3084766"/>
          </a:xfrm>
          <a:prstGeom prst="rect">
            <a:avLst/>
          </a:prstGeom>
        </p:spPr>
        <p:txBody>
          <a:bodyPr lIns="0" tIns="0" rIns="0" bIns="0" rtlCol="0" anchor="t">
            <a:spAutoFit/>
          </a:bodyPr>
          <a:lstStyle/>
          <a:p>
            <a:pPr algn="l">
              <a:lnSpc>
                <a:spcPts val="4200"/>
              </a:lnSpc>
            </a:pPr>
            <a:endParaRPr/>
          </a:p>
          <a:p>
            <a:pPr algn="l">
              <a:lnSpc>
                <a:spcPts val="3321"/>
              </a:lnSpc>
            </a:pPr>
            <a:r>
              <a:rPr lang="en-US" sz="3000">
                <a:solidFill>
                  <a:srgbClr val="FFFFFF"/>
                </a:solidFill>
                <a:latin typeface="Canva Sans"/>
                <a:ea typeface="Canva Sans"/>
                <a:cs typeface="Canva Sans"/>
                <a:sym typeface="Canva Sans"/>
              </a:rPr>
              <a:t>This analysis provides an overview of New York City vehicle collision data reported by the New York City Police Department (NYPD). It examines collision trends across the five boroughs, identifies the major contributing factors, and highlights patterns in injuries and fatalities. The analysis shows that Brooklyn recorded the highest number of crashes (506,806), with collision volumes peaking in 2018 before declining in subsequent years.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t="-9259" b="-9259"/>
              </a:stretch>
            </a:blipFill>
          </p:spPr>
        </p:sp>
      </p:grpSp>
      <p:sp>
        <p:nvSpPr>
          <p:cNvPr id="4" name="TextBox 4"/>
          <p:cNvSpPr txBox="1"/>
          <p:nvPr/>
        </p:nvSpPr>
        <p:spPr>
          <a:xfrm>
            <a:off x="1387096" y="1085850"/>
            <a:ext cx="3489703" cy="1213993"/>
          </a:xfrm>
          <a:prstGeom prst="rect">
            <a:avLst/>
          </a:prstGeom>
        </p:spPr>
        <p:txBody>
          <a:bodyPr wrap="square" lIns="0" tIns="0" rIns="0" bIns="0" rtlCol="0" anchor="t">
            <a:spAutoFit/>
          </a:bodyPr>
          <a:lstStyle/>
          <a:p>
            <a:pPr algn="l">
              <a:lnSpc>
                <a:spcPts val="9412"/>
              </a:lnSpc>
            </a:pPr>
            <a:r>
              <a:rPr lang="en-US" sz="8185" dirty="0">
                <a:solidFill>
                  <a:srgbClr val="FFFFFF"/>
                </a:solidFill>
                <a:latin typeface="League Gothic"/>
                <a:ea typeface="League Gothic"/>
                <a:cs typeface="League Gothic"/>
                <a:sym typeface="League Gothic"/>
              </a:rPr>
              <a:t>OBJECTIVE</a:t>
            </a:r>
          </a:p>
        </p:txBody>
      </p:sp>
      <p:sp>
        <p:nvSpPr>
          <p:cNvPr id="5" name="TextBox 5"/>
          <p:cNvSpPr txBox="1"/>
          <p:nvPr/>
        </p:nvSpPr>
        <p:spPr>
          <a:xfrm>
            <a:off x="522054" y="2610018"/>
            <a:ext cx="17513922" cy="4011612"/>
          </a:xfrm>
          <a:prstGeom prst="rect">
            <a:avLst/>
          </a:prstGeom>
        </p:spPr>
        <p:txBody>
          <a:bodyPr lIns="0" tIns="0" rIns="0" bIns="0" rtlCol="0" anchor="t">
            <a:spAutoFit/>
          </a:bodyPr>
          <a:lstStyle/>
          <a:p>
            <a:pPr algn="l">
              <a:lnSpc>
                <a:spcPts val="3585"/>
              </a:lnSpc>
            </a:pPr>
            <a:r>
              <a:rPr lang="en-US" sz="2561" dirty="0">
                <a:solidFill>
                  <a:srgbClr val="FFFFFF"/>
                </a:solidFill>
                <a:latin typeface="Muli"/>
                <a:ea typeface="Muli"/>
                <a:cs typeface="Muli"/>
                <a:sym typeface="Muli"/>
              </a:rPr>
              <a:t>This </a:t>
            </a:r>
            <a:r>
              <a:rPr lang="en-US" sz="2561" dirty="0" smtClean="0">
                <a:solidFill>
                  <a:srgbClr val="FFFFFF"/>
                </a:solidFill>
                <a:latin typeface="Muli"/>
                <a:ea typeface="Muli"/>
                <a:cs typeface="Muli"/>
                <a:sym typeface="Muli"/>
              </a:rPr>
              <a:t>project </a:t>
            </a:r>
            <a:r>
              <a:rPr lang="en-US" sz="2561" dirty="0">
                <a:solidFill>
                  <a:srgbClr val="FFFFFF"/>
                </a:solidFill>
                <a:latin typeface="Muli"/>
                <a:ea typeface="Muli"/>
                <a:cs typeface="Muli"/>
                <a:sym typeface="Muli"/>
              </a:rPr>
              <a:t>analyzes NYC motor vehicle </a:t>
            </a:r>
            <a:r>
              <a:rPr lang="en-US" sz="2561" dirty="0" err="1">
                <a:solidFill>
                  <a:srgbClr val="FFFFFF"/>
                </a:solidFill>
                <a:latin typeface="Muli"/>
                <a:ea typeface="Muli"/>
                <a:cs typeface="Muli"/>
                <a:sym typeface="Muli"/>
              </a:rPr>
              <a:t>colission</a:t>
            </a:r>
            <a:r>
              <a:rPr lang="en-US" sz="2561" dirty="0">
                <a:solidFill>
                  <a:srgbClr val="FFFFFF"/>
                </a:solidFill>
                <a:latin typeface="Muli"/>
                <a:ea typeface="Muli"/>
                <a:cs typeface="Muli"/>
                <a:sym typeface="Muli"/>
              </a:rPr>
              <a:t> data to identify crash trends, high risk locations, major causes, and affected road users. The objective is to provide data driven recommendations for improving road safety decisions. </a:t>
            </a:r>
          </a:p>
          <a:p>
            <a:pPr algn="l">
              <a:lnSpc>
                <a:spcPts val="3585"/>
              </a:lnSpc>
            </a:pPr>
            <a:endParaRPr lang="en-US" sz="2561" dirty="0">
              <a:solidFill>
                <a:srgbClr val="FFFFFF"/>
              </a:solidFill>
              <a:latin typeface="Muli"/>
              <a:ea typeface="Muli"/>
              <a:cs typeface="Muli"/>
              <a:sym typeface="Muli"/>
            </a:endParaRPr>
          </a:p>
          <a:p>
            <a:pPr algn="l">
              <a:lnSpc>
                <a:spcPts val="3585"/>
              </a:lnSpc>
            </a:pPr>
            <a:r>
              <a:rPr lang="en-US" sz="2561" dirty="0">
                <a:solidFill>
                  <a:srgbClr val="FFFFFF"/>
                </a:solidFill>
                <a:latin typeface="Muli"/>
                <a:ea typeface="Muli"/>
                <a:cs typeface="Muli"/>
                <a:sym typeface="Muli"/>
              </a:rPr>
              <a:t>The analysis focuses on four key questions:</a:t>
            </a:r>
          </a:p>
          <a:p>
            <a:pPr algn="l">
              <a:lnSpc>
                <a:spcPts val="3585"/>
              </a:lnSpc>
            </a:pPr>
            <a:endParaRPr lang="en-US" sz="2561" dirty="0">
              <a:solidFill>
                <a:srgbClr val="FFFFFF"/>
              </a:solidFill>
              <a:latin typeface="Muli"/>
              <a:ea typeface="Muli"/>
              <a:cs typeface="Muli"/>
              <a:sym typeface="Muli"/>
            </a:endParaRPr>
          </a:p>
          <a:p>
            <a:pPr marL="552920" lvl="1" indent="-276460" algn="l">
              <a:lnSpc>
                <a:spcPts val="3585"/>
              </a:lnSpc>
              <a:buAutoNum type="arabicPeriod"/>
            </a:pPr>
            <a:r>
              <a:rPr lang="en-US" sz="2561" dirty="0">
                <a:solidFill>
                  <a:srgbClr val="FFFFFF"/>
                </a:solidFill>
                <a:latin typeface="Muli"/>
                <a:ea typeface="Muli"/>
                <a:cs typeface="Muli"/>
                <a:sym typeface="Muli"/>
              </a:rPr>
              <a:t>ARE CRASHES RISING OR FALLING OVER TIME?</a:t>
            </a:r>
          </a:p>
          <a:p>
            <a:pPr marL="552920" lvl="1" indent="-276460" algn="l">
              <a:lnSpc>
                <a:spcPts val="3585"/>
              </a:lnSpc>
              <a:buAutoNum type="arabicPeriod"/>
            </a:pPr>
            <a:r>
              <a:rPr lang="en-US" sz="2561" dirty="0">
                <a:solidFill>
                  <a:srgbClr val="FFFFFF"/>
                </a:solidFill>
                <a:latin typeface="Muli"/>
                <a:ea typeface="Muli"/>
                <a:cs typeface="Muli"/>
                <a:sym typeface="Muli"/>
              </a:rPr>
              <a:t>WHICH BOROUGHS HAVE THE MOST CRASHES?</a:t>
            </a:r>
          </a:p>
          <a:p>
            <a:pPr marL="552920" lvl="1" indent="-276460" algn="l">
              <a:lnSpc>
                <a:spcPts val="3585"/>
              </a:lnSpc>
              <a:buAutoNum type="arabicPeriod"/>
            </a:pPr>
            <a:r>
              <a:rPr lang="en-US" sz="2561" dirty="0">
                <a:solidFill>
                  <a:srgbClr val="FFFFFF"/>
                </a:solidFill>
                <a:latin typeface="Muli"/>
                <a:ea typeface="Muli"/>
                <a:cs typeface="Muli"/>
                <a:sym typeface="Muli"/>
              </a:rPr>
              <a:t>WHAT ARE THE LEADING CAUSES AND DO THEY VARY BY BOROUGH?</a:t>
            </a:r>
          </a:p>
          <a:p>
            <a:pPr marL="552920" lvl="1" indent="-276460" algn="l">
              <a:lnSpc>
                <a:spcPts val="3585"/>
              </a:lnSpc>
              <a:buAutoNum type="arabicPeriod"/>
            </a:pPr>
            <a:r>
              <a:rPr lang="en-US" sz="2560" dirty="0">
                <a:solidFill>
                  <a:srgbClr val="FFFFFF"/>
                </a:solidFill>
                <a:latin typeface="Muli"/>
                <a:ea typeface="Muli"/>
                <a:cs typeface="Muli"/>
                <a:sym typeface="Muli"/>
              </a:rPr>
              <a:t>WHICH ROAD USERS FACE THE HIGHEST RISK OF INJURY OR DEATH?</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t="-9259" b="-9259"/>
              </a:stretch>
            </a:blipFill>
          </p:spPr>
        </p:sp>
      </p:grpSp>
      <p:sp>
        <p:nvSpPr>
          <p:cNvPr id="4" name="TextBox 4"/>
          <p:cNvSpPr txBox="1"/>
          <p:nvPr/>
        </p:nvSpPr>
        <p:spPr>
          <a:xfrm>
            <a:off x="1387097" y="1085850"/>
            <a:ext cx="5985377" cy="1188568"/>
          </a:xfrm>
          <a:prstGeom prst="rect">
            <a:avLst/>
          </a:prstGeom>
        </p:spPr>
        <p:txBody>
          <a:bodyPr lIns="0" tIns="0" rIns="0" bIns="0" rtlCol="0" anchor="t">
            <a:spAutoFit/>
          </a:bodyPr>
          <a:lstStyle/>
          <a:p>
            <a:pPr algn="l">
              <a:lnSpc>
                <a:spcPts val="9412"/>
              </a:lnSpc>
            </a:pPr>
            <a:r>
              <a:rPr lang="en-US" sz="8185">
                <a:solidFill>
                  <a:srgbClr val="FFFFFF"/>
                </a:solidFill>
                <a:latin typeface="League Gothic"/>
                <a:ea typeface="League Gothic"/>
                <a:cs typeface="League Gothic"/>
                <a:sym typeface="League Gothic"/>
              </a:rPr>
              <a:t>FINDINGS</a:t>
            </a:r>
          </a:p>
        </p:txBody>
      </p:sp>
      <p:sp>
        <p:nvSpPr>
          <p:cNvPr id="5" name="TextBox 5"/>
          <p:cNvSpPr txBox="1"/>
          <p:nvPr/>
        </p:nvSpPr>
        <p:spPr>
          <a:xfrm>
            <a:off x="566110" y="2587990"/>
            <a:ext cx="17513922" cy="6249949"/>
          </a:xfrm>
          <a:prstGeom prst="rect">
            <a:avLst/>
          </a:prstGeom>
        </p:spPr>
        <p:txBody>
          <a:bodyPr lIns="0" tIns="0" rIns="0" bIns="0" rtlCol="0" anchor="t">
            <a:spAutoFit/>
          </a:bodyPr>
          <a:lstStyle/>
          <a:p>
            <a:pPr algn="l">
              <a:lnSpc>
                <a:spcPts val="3585"/>
              </a:lnSpc>
            </a:pPr>
            <a:endParaRPr/>
          </a:p>
          <a:p>
            <a:pPr marL="585445" lvl="2" indent="-195148" algn="l">
              <a:lnSpc>
                <a:spcPts val="3585"/>
              </a:lnSpc>
              <a:buFont typeface="Arial"/>
              <a:buChar char="⚬"/>
            </a:pPr>
            <a:r>
              <a:rPr lang="en-US" sz="2561">
                <a:solidFill>
                  <a:srgbClr val="FFFFFF"/>
                </a:solidFill>
                <a:latin typeface="Muli"/>
                <a:ea typeface="Muli"/>
                <a:cs typeface="Muli"/>
                <a:sym typeface="Muli"/>
              </a:rPr>
              <a:t>Brooklym recorded the highest number of crashes (507,000) which reflects its larger population and greater volume of road activity while staten island recorded the fewest (66,000). </a:t>
            </a:r>
          </a:p>
          <a:p>
            <a:pPr marL="585445" lvl="2" indent="-195148" algn="l">
              <a:lnSpc>
                <a:spcPts val="3585"/>
              </a:lnSpc>
              <a:buFont typeface="Arial"/>
              <a:buChar char="⚬"/>
            </a:pPr>
            <a:r>
              <a:rPr lang="en-US" sz="2561">
                <a:solidFill>
                  <a:srgbClr val="FFFFFF"/>
                </a:solidFill>
                <a:latin typeface="Muli"/>
                <a:ea typeface="Muli"/>
                <a:cs typeface="Muli"/>
                <a:sym typeface="Muli"/>
              </a:rPr>
              <a:t>Crashes where most freuent during the morning hours suggesting that increase traffic activity during this period maybe associated with higher collision volumes.</a:t>
            </a:r>
          </a:p>
          <a:p>
            <a:pPr marL="585445" lvl="2" indent="-195148" algn="l">
              <a:lnSpc>
                <a:spcPts val="3585"/>
              </a:lnSpc>
              <a:buFont typeface="Arial"/>
              <a:buChar char="⚬"/>
            </a:pPr>
            <a:r>
              <a:rPr lang="en-US" sz="2561">
                <a:solidFill>
                  <a:srgbClr val="FFFFFF"/>
                </a:solidFill>
                <a:latin typeface="Muli"/>
                <a:ea typeface="Muli"/>
                <a:cs typeface="Muli"/>
                <a:sym typeface="Muli"/>
              </a:rPr>
              <a:t>Crash volumes peaked around 2018 before declining sharply from 2020 onward with the pronounced drop in 2020 likely reflecting the impact of the covid 19 pandemic and reduced mobility during that period.</a:t>
            </a:r>
          </a:p>
          <a:p>
            <a:pPr marL="585445" lvl="2" indent="-195148" algn="l">
              <a:lnSpc>
                <a:spcPts val="3585"/>
              </a:lnSpc>
              <a:buFont typeface="Arial"/>
              <a:buChar char="⚬"/>
            </a:pPr>
            <a:r>
              <a:rPr lang="en-US" sz="2561">
                <a:solidFill>
                  <a:srgbClr val="FFFFFF"/>
                </a:solidFill>
                <a:latin typeface="Muli"/>
                <a:ea typeface="Muli"/>
                <a:cs typeface="Muli"/>
                <a:sym typeface="Muli"/>
              </a:rPr>
              <a:t>Driver inattention/distraction was the leading contributing factor accross all boroughs followed by failure to yield right-of-way and following too closely indicating that driver behavior is a major contributor to collisions.</a:t>
            </a:r>
          </a:p>
          <a:p>
            <a:pPr marL="585445" lvl="2" indent="-195148" algn="l">
              <a:lnSpc>
                <a:spcPts val="3585"/>
              </a:lnSpc>
              <a:buFont typeface="Arial"/>
              <a:buChar char="⚬"/>
            </a:pPr>
            <a:r>
              <a:rPr lang="en-US" sz="2561">
                <a:solidFill>
                  <a:srgbClr val="FFFFFF"/>
                </a:solidFill>
                <a:latin typeface="Muli"/>
                <a:ea typeface="Muli"/>
                <a:cs typeface="Muli"/>
                <a:sym typeface="Muli"/>
              </a:rPr>
              <a:t>Motorist recorded the highest number of injuries while pedestrians recorded the highest number of fatalities highlighting pedestrians as the vulnerable group to fatal outcome despite motorist experiencing more injuries overall</a:t>
            </a:r>
          </a:p>
          <a:p>
            <a:pPr marL="585511" lvl="2" indent="-195170" algn="l">
              <a:lnSpc>
                <a:spcPts val="3585"/>
              </a:lnSpc>
            </a:pPr>
            <a:endParaRPr lang="en-US" sz="2561">
              <a:solidFill>
                <a:srgbClr val="FFFFFF"/>
              </a:solidFill>
              <a:latin typeface="Muli"/>
              <a:ea typeface="Muli"/>
              <a:cs typeface="Muli"/>
              <a:sym typeface="Muli"/>
            </a:endParaRPr>
          </a:p>
          <a:p>
            <a:pPr marL="585511" lvl="2" indent="-195170" algn="l">
              <a:lnSpc>
                <a:spcPts val="3585"/>
              </a:lnSpc>
            </a:pPr>
            <a:endParaRPr lang="en-US" sz="2561">
              <a:solidFill>
                <a:srgbClr val="FFFFFF"/>
              </a:solidFill>
              <a:latin typeface="Muli"/>
              <a:ea typeface="Muli"/>
              <a:cs typeface="Muli"/>
              <a:sym typeface="Mul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t="-83333" b="-83333"/>
              </a:stretch>
            </a:blipFill>
          </p:spPr>
        </p:sp>
      </p:grpSp>
      <p:grpSp>
        <p:nvGrpSpPr>
          <p:cNvPr id="4" name="Group 4"/>
          <p:cNvGrpSpPr/>
          <p:nvPr/>
        </p:nvGrpSpPr>
        <p:grpSpPr>
          <a:xfrm>
            <a:off x="14358884" y="-5885164"/>
            <a:ext cx="9043426" cy="9043426"/>
            <a:chOff x="0" y="0"/>
            <a:chExt cx="12057901" cy="12057901"/>
          </a:xfrm>
        </p:grpSpPr>
        <p:sp>
          <p:nvSpPr>
            <p:cNvPr id="5" name="Freeform 5"/>
            <p:cNvSpPr/>
            <p:nvPr/>
          </p:nvSpPr>
          <p:spPr>
            <a:xfrm>
              <a:off x="0" y="0"/>
              <a:ext cx="12057888" cy="12057888"/>
            </a:xfrm>
            <a:custGeom>
              <a:avLst/>
              <a:gdLst/>
              <a:ahLst/>
              <a:cxnLst/>
              <a:rect l="l" t="t" r="r" b="b"/>
              <a:pathLst>
                <a:path w="12057888" h="12057888">
                  <a:moveTo>
                    <a:pt x="6028944" y="0"/>
                  </a:moveTo>
                  <a:cubicBezTo>
                    <a:pt x="2699258" y="0"/>
                    <a:pt x="0" y="2699258"/>
                    <a:pt x="0" y="6028944"/>
                  </a:cubicBezTo>
                  <a:cubicBezTo>
                    <a:pt x="0" y="9358630"/>
                    <a:pt x="2699258" y="12057888"/>
                    <a:pt x="6028944" y="12057888"/>
                  </a:cubicBezTo>
                  <a:cubicBezTo>
                    <a:pt x="9358630" y="12057888"/>
                    <a:pt x="12057888" y="9358630"/>
                    <a:pt x="12057888" y="6028944"/>
                  </a:cubicBezTo>
                  <a:cubicBezTo>
                    <a:pt x="12057888" y="2699258"/>
                    <a:pt x="9358630" y="0"/>
                    <a:pt x="6028944" y="0"/>
                  </a:cubicBezTo>
                  <a:close/>
                </a:path>
              </a:pathLst>
            </a:custGeom>
            <a:blipFill>
              <a:blip r:embed="rId3"/>
              <a:stretch>
                <a:fillRect t="-24984" b="-24985"/>
              </a:stretch>
            </a:blipFill>
          </p:spPr>
        </p:sp>
      </p:grpSp>
      <p:sp>
        <p:nvSpPr>
          <p:cNvPr id="6" name="TextBox 6"/>
          <p:cNvSpPr txBox="1"/>
          <p:nvPr/>
        </p:nvSpPr>
        <p:spPr>
          <a:xfrm>
            <a:off x="5115020" y="992161"/>
            <a:ext cx="8462620" cy="4144823"/>
          </a:xfrm>
          <a:prstGeom prst="rect">
            <a:avLst/>
          </a:prstGeom>
        </p:spPr>
        <p:txBody>
          <a:bodyPr lIns="0" tIns="0" rIns="0" bIns="0" rtlCol="0" anchor="t">
            <a:spAutoFit/>
          </a:bodyPr>
          <a:lstStyle/>
          <a:p>
            <a:pPr algn="l">
              <a:lnSpc>
                <a:spcPts val="10935"/>
              </a:lnSpc>
            </a:pPr>
            <a:r>
              <a:rPr lang="en-US" sz="9510">
                <a:solidFill>
                  <a:srgbClr val="FFFFFF"/>
                </a:solidFill>
                <a:latin typeface="League Gothic"/>
                <a:ea typeface="League Gothic"/>
                <a:cs typeface="League Gothic"/>
                <a:sym typeface="League Gothic"/>
              </a:rPr>
              <a:t>RECOMMENDATION:</a:t>
            </a:r>
          </a:p>
          <a:p>
            <a:pPr algn="l">
              <a:lnSpc>
                <a:spcPts val="10935"/>
              </a:lnSpc>
            </a:pPr>
            <a:endParaRPr lang="en-US" sz="9510">
              <a:solidFill>
                <a:srgbClr val="FFFFFF"/>
              </a:solidFill>
              <a:latin typeface="League Gothic"/>
              <a:ea typeface="League Gothic"/>
              <a:cs typeface="League Gothic"/>
              <a:sym typeface="League Gothic"/>
            </a:endParaRPr>
          </a:p>
          <a:p>
            <a:pPr algn="l">
              <a:lnSpc>
                <a:spcPts val="10935"/>
              </a:lnSpc>
            </a:pPr>
            <a:endParaRPr lang="en-US" sz="9510">
              <a:solidFill>
                <a:srgbClr val="FFFFFF"/>
              </a:solidFill>
              <a:latin typeface="League Gothic"/>
              <a:ea typeface="League Gothic"/>
              <a:cs typeface="League Gothic"/>
              <a:sym typeface="League Gothic"/>
            </a:endParaRPr>
          </a:p>
        </p:txBody>
      </p:sp>
      <p:sp>
        <p:nvSpPr>
          <p:cNvPr id="7" name="TextBox 7"/>
          <p:cNvSpPr txBox="1"/>
          <p:nvPr/>
        </p:nvSpPr>
        <p:spPr>
          <a:xfrm>
            <a:off x="590302" y="3177311"/>
            <a:ext cx="17107395" cy="4883425"/>
          </a:xfrm>
          <a:prstGeom prst="rect">
            <a:avLst/>
          </a:prstGeom>
        </p:spPr>
        <p:txBody>
          <a:bodyPr lIns="0" tIns="0" rIns="0" bIns="0" rtlCol="0" anchor="t">
            <a:spAutoFit/>
          </a:bodyPr>
          <a:lstStyle/>
          <a:p>
            <a:pPr marL="471093" lvl="1" indent="-235547" algn="l">
              <a:lnSpc>
                <a:spcPts val="2415"/>
              </a:lnSpc>
              <a:buAutoNum type="arabicPeriod"/>
            </a:pPr>
            <a:r>
              <a:rPr lang="en-US" sz="2181">
                <a:solidFill>
                  <a:srgbClr val="FFFFFF"/>
                </a:solidFill>
                <a:latin typeface="Canva Sans"/>
                <a:ea typeface="Canva Sans"/>
                <a:cs typeface="Canva Sans"/>
                <a:sym typeface="Canva Sans"/>
              </a:rPr>
              <a:t>Strengthen driver-awareness initiatives focused on distraction, failure to yield, and following too closely, as these were the leading contributing factors to crashes. </a:t>
            </a:r>
          </a:p>
          <a:p>
            <a:pPr algn="l">
              <a:lnSpc>
                <a:spcPts val="2415"/>
              </a:lnSpc>
            </a:pPr>
            <a:endParaRPr lang="en-US" sz="2181">
              <a:solidFill>
                <a:srgbClr val="FFFFFF"/>
              </a:solidFill>
              <a:latin typeface="Canva Sans"/>
              <a:ea typeface="Canva Sans"/>
              <a:cs typeface="Canva Sans"/>
              <a:sym typeface="Canva Sans"/>
            </a:endParaRPr>
          </a:p>
          <a:p>
            <a:pPr marL="471093" lvl="1" indent="-235547" algn="l">
              <a:lnSpc>
                <a:spcPts val="2415"/>
              </a:lnSpc>
              <a:buAutoNum type="arabicPeriod"/>
            </a:pPr>
            <a:r>
              <a:rPr lang="en-US" sz="2181">
                <a:solidFill>
                  <a:srgbClr val="FFFFFF"/>
                </a:solidFill>
                <a:latin typeface="Canva Sans"/>
                <a:ea typeface="Canva Sans"/>
                <a:cs typeface="Canva Sans"/>
                <a:sym typeface="Canva Sans"/>
              </a:rPr>
              <a:t>Prioritize safety improvements in high-crash locations, particularly Brooklyn.</a:t>
            </a:r>
          </a:p>
          <a:p>
            <a:pPr algn="l">
              <a:lnSpc>
                <a:spcPts val="2415"/>
              </a:lnSpc>
            </a:pPr>
            <a:endParaRPr lang="en-US" sz="2181">
              <a:solidFill>
                <a:srgbClr val="FFFFFF"/>
              </a:solidFill>
              <a:latin typeface="Canva Sans"/>
              <a:ea typeface="Canva Sans"/>
              <a:cs typeface="Canva Sans"/>
              <a:sym typeface="Canva Sans"/>
            </a:endParaRPr>
          </a:p>
          <a:p>
            <a:pPr marL="471093" lvl="1" indent="-235547" algn="l">
              <a:lnSpc>
                <a:spcPts val="2415"/>
              </a:lnSpc>
              <a:buAutoNum type="arabicPeriod"/>
            </a:pPr>
            <a:r>
              <a:rPr lang="en-US" sz="2181">
                <a:solidFill>
                  <a:srgbClr val="FFFFFF"/>
                </a:solidFill>
                <a:latin typeface="Canva Sans"/>
                <a:ea typeface="Canva Sans"/>
                <a:cs typeface="Canva Sans"/>
                <a:sym typeface="Canva Sans"/>
              </a:rPr>
              <a:t> Improve pedestrian protection through safer crossings, clearer signage, traffic-calmng measures, and targeted interventions in areas with high pedestrian fatalities. </a:t>
            </a:r>
          </a:p>
          <a:p>
            <a:pPr algn="l">
              <a:lnSpc>
                <a:spcPts val="2415"/>
              </a:lnSpc>
            </a:pPr>
            <a:endParaRPr lang="en-US" sz="2181">
              <a:solidFill>
                <a:srgbClr val="FFFFFF"/>
              </a:solidFill>
              <a:latin typeface="Canva Sans"/>
              <a:ea typeface="Canva Sans"/>
              <a:cs typeface="Canva Sans"/>
              <a:sym typeface="Canva Sans"/>
            </a:endParaRPr>
          </a:p>
          <a:p>
            <a:pPr marL="471093" lvl="1" indent="-235547" algn="l">
              <a:lnSpc>
                <a:spcPts val="2415"/>
              </a:lnSpc>
              <a:buAutoNum type="arabicPeriod"/>
            </a:pPr>
            <a:r>
              <a:rPr lang="en-US" sz="2181">
                <a:solidFill>
                  <a:srgbClr val="FFFFFF"/>
                </a:solidFill>
                <a:latin typeface="Canva Sans"/>
                <a:ea typeface="Canva Sans"/>
                <a:cs typeface="Canva Sans"/>
                <a:sym typeface="Canva Sans"/>
              </a:rPr>
              <a:t>Target morning traffic periods with increased enforcement and traffic-management measures, given the higher crash volume during these hours. </a:t>
            </a:r>
          </a:p>
          <a:p>
            <a:pPr algn="l">
              <a:lnSpc>
                <a:spcPts val="2415"/>
              </a:lnSpc>
            </a:pPr>
            <a:endParaRPr lang="en-US" sz="2181">
              <a:solidFill>
                <a:srgbClr val="FFFFFF"/>
              </a:solidFill>
              <a:latin typeface="Canva Sans"/>
              <a:ea typeface="Canva Sans"/>
              <a:cs typeface="Canva Sans"/>
              <a:sym typeface="Canva Sans"/>
            </a:endParaRPr>
          </a:p>
          <a:p>
            <a:pPr marL="471093" lvl="1" indent="-235547" algn="l">
              <a:lnSpc>
                <a:spcPts val="2415"/>
              </a:lnSpc>
              <a:buAutoNum type="arabicPeriod"/>
            </a:pPr>
            <a:r>
              <a:rPr lang="en-US" sz="2181">
                <a:solidFill>
                  <a:srgbClr val="FFFFFF"/>
                </a:solidFill>
                <a:latin typeface="Canva Sans"/>
                <a:ea typeface="Canva Sans"/>
                <a:cs typeface="Canva Sans"/>
                <a:sym typeface="Canva Sans"/>
              </a:rPr>
              <a:t>Monitor post-COVID crash trends to distinguish temporary changes in collision patterns from longer-term improvements in road safety. </a:t>
            </a:r>
          </a:p>
          <a:p>
            <a:pPr algn="l">
              <a:lnSpc>
                <a:spcPts val="2415"/>
              </a:lnSpc>
            </a:pPr>
            <a:endParaRPr lang="en-US" sz="2181">
              <a:solidFill>
                <a:srgbClr val="FFFFFF"/>
              </a:solidFill>
              <a:latin typeface="Canva Sans"/>
              <a:ea typeface="Canva Sans"/>
              <a:cs typeface="Canva Sans"/>
              <a:sym typeface="Canva Sans"/>
            </a:endParaRPr>
          </a:p>
          <a:p>
            <a:pPr marL="471094" lvl="1" indent="-235547" algn="l">
              <a:lnSpc>
                <a:spcPts val="2416"/>
              </a:lnSpc>
              <a:buAutoNum type="arabicPeriod"/>
            </a:pPr>
            <a:r>
              <a:rPr lang="en-US" sz="2182">
                <a:solidFill>
                  <a:srgbClr val="FFFFFF"/>
                </a:solidFill>
                <a:latin typeface="Canva Sans"/>
                <a:ea typeface="Canva Sans"/>
                <a:cs typeface="Canva Sans"/>
                <a:sym typeface="Canva Sans"/>
              </a:rPr>
              <a:t>Use population-adjusted crash rates in future analysis to determine whether boroughs with higher crash counts also have higher crash risk relative to their population.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t="-9259" b="-9259"/>
              </a:stretch>
            </a:blipFill>
          </p:spPr>
        </p:sp>
      </p:grpSp>
      <p:grpSp>
        <p:nvGrpSpPr>
          <p:cNvPr id="4" name="Group 4"/>
          <p:cNvGrpSpPr/>
          <p:nvPr/>
        </p:nvGrpSpPr>
        <p:grpSpPr>
          <a:xfrm>
            <a:off x="11239643" y="-2264302"/>
            <a:ext cx="9043426" cy="9043426"/>
            <a:chOff x="0" y="0"/>
            <a:chExt cx="12057901" cy="12057901"/>
          </a:xfrm>
        </p:grpSpPr>
        <p:sp>
          <p:nvSpPr>
            <p:cNvPr id="5" name="Freeform 5"/>
            <p:cNvSpPr/>
            <p:nvPr/>
          </p:nvSpPr>
          <p:spPr>
            <a:xfrm>
              <a:off x="0" y="0"/>
              <a:ext cx="12057888" cy="12057888"/>
            </a:xfrm>
            <a:custGeom>
              <a:avLst/>
              <a:gdLst/>
              <a:ahLst/>
              <a:cxnLst/>
              <a:rect l="l" t="t" r="r" b="b"/>
              <a:pathLst>
                <a:path w="12057888" h="12057888">
                  <a:moveTo>
                    <a:pt x="6028944" y="0"/>
                  </a:moveTo>
                  <a:cubicBezTo>
                    <a:pt x="2699258" y="0"/>
                    <a:pt x="0" y="2699258"/>
                    <a:pt x="0" y="6028944"/>
                  </a:cubicBezTo>
                  <a:cubicBezTo>
                    <a:pt x="0" y="9358630"/>
                    <a:pt x="2699258" y="12057888"/>
                    <a:pt x="6028944" y="12057888"/>
                  </a:cubicBezTo>
                  <a:cubicBezTo>
                    <a:pt x="9358630" y="12057888"/>
                    <a:pt x="12057888" y="9358630"/>
                    <a:pt x="12057888" y="6028944"/>
                  </a:cubicBezTo>
                  <a:cubicBezTo>
                    <a:pt x="12057888" y="2699258"/>
                    <a:pt x="9358630" y="0"/>
                    <a:pt x="6028944" y="0"/>
                  </a:cubicBezTo>
                  <a:close/>
                </a:path>
              </a:pathLst>
            </a:custGeom>
            <a:blipFill>
              <a:blip r:embed="rId3"/>
              <a:stretch>
                <a:fillRect l="-24999" r="-25000"/>
              </a:stretch>
            </a:blipFill>
          </p:spPr>
        </p:sp>
      </p:grpSp>
      <p:sp>
        <p:nvSpPr>
          <p:cNvPr id="6" name="TextBox 6"/>
          <p:cNvSpPr txBox="1"/>
          <p:nvPr/>
        </p:nvSpPr>
        <p:spPr>
          <a:xfrm>
            <a:off x="1958321" y="1691707"/>
            <a:ext cx="5985377" cy="1188568"/>
          </a:xfrm>
          <a:prstGeom prst="rect">
            <a:avLst/>
          </a:prstGeom>
        </p:spPr>
        <p:txBody>
          <a:bodyPr lIns="0" tIns="0" rIns="0" bIns="0" rtlCol="0" anchor="t">
            <a:spAutoFit/>
          </a:bodyPr>
          <a:lstStyle/>
          <a:p>
            <a:pPr algn="l">
              <a:lnSpc>
                <a:spcPts val="9412"/>
              </a:lnSpc>
            </a:pPr>
            <a:r>
              <a:rPr lang="en-US" sz="8185">
                <a:solidFill>
                  <a:srgbClr val="FFFFFF"/>
                </a:solidFill>
                <a:latin typeface="League Gothic"/>
                <a:ea typeface="League Gothic"/>
                <a:cs typeface="League Gothic"/>
                <a:sym typeface="League Gothic"/>
              </a:rPr>
              <a:t>CONCLUSION</a:t>
            </a:r>
          </a:p>
        </p:txBody>
      </p:sp>
      <p:sp>
        <p:nvSpPr>
          <p:cNvPr id="7" name="TextBox 7"/>
          <p:cNvSpPr txBox="1"/>
          <p:nvPr/>
        </p:nvSpPr>
        <p:spPr>
          <a:xfrm>
            <a:off x="711185" y="4010903"/>
            <a:ext cx="16865631" cy="4097452"/>
          </a:xfrm>
          <a:prstGeom prst="rect">
            <a:avLst/>
          </a:prstGeom>
        </p:spPr>
        <p:txBody>
          <a:bodyPr lIns="0" tIns="0" rIns="0" bIns="0" rtlCol="0" anchor="t">
            <a:spAutoFit/>
          </a:bodyPr>
          <a:lstStyle/>
          <a:p>
            <a:pPr algn="l">
              <a:lnSpc>
                <a:spcPts val="4105"/>
              </a:lnSpc>
            </a:pPr>
            <a:r>
              <a:rPr lang="en-US" sz="2932">
                <a:solidFill>
                  <a:srgbClr val="FFFFFF"/>
                </a:solidFill>
                <a:latin typeface="Muli"/>
                <a:ea typeface="Muli"/>
                <a:cs typeface="Muli"/>
                <a:sym typeface="Muli"/>
              </a:rPr>
              <a:t>The analysis of NYC motor vehicle collisions provides a clear picture of where, when, and why crashes occur and who is most affected. Crash volumes peaked around 2018 before declining, with the sharp reduction in 2020 likely influenced by COVID-19 and reduced mobility. Brooklyn recorded the highest number of crashes, while driver inattention was the leading contributing factor across all boroughs. Motorists experienced the most injuries, while pedestrians recorded the highest fatalities. Overall, the findings highlight the need for targeted driver-awareness initiatives, improvements in high-risk locations, and stronger pedestrian safety measures to reduce the impact of road collisions across New York City.</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t="-83333" b="-83333"/>
              </a:stretch>
            </a:blipFill>
          </p:spPr>
        </p:sp>
      </p:grpSp>
      <p:sp>
        <p:nvSpPr>
          <p:cNvPr id="4" name="TextBox 4"/>
          <p:cNvSpPr txBox="1"/>
          <p:nvPr/>
        </p:nvSpPr>
        <p:spPr>
          <a:xfrm>
            <a:off x="2314585" y="4359316"/>
            <a:ext cx="13658831" cy="2671943"/>
          </a:xfrm>
          <a:prstGeom prst="rect">
            <a:avLst/>
          </a:prstGeom>
        </p:spPr>
        <p:txBody>
          <a:bodyPr lIns="0" tIns="0" rIns="0" bIns="0" rtlCol="0" anchor="t">
            <a:spAutoFit/>
          </a:bodyPr>
          <a:lstStyle/>
          <a:p>
            <a:pPr algn="ctr">
              <a:lnSpc>
                <a:spcPts val="21481"/>
              </a:lnSpc>
            </a:pPr>
            <a:r>
              <a:rPr lang="en-US" sz="18680">
                <a:solidFill>
                  <a:srgbClr val="FFFFFF"/>
                </a:solidFill>
                <a:latin typeface="League Gothic"/>
                <a:ea typeface="League Gothic"/>
                <a:cs typeface="League Gothic"/>
                <a:sym typeface="League Gothic"/>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558</Words>
  <Application>Microsoft Office PowerPoint</Application>
  <PresentationFormat>Custom</PresentationFormat>
  <Paragraphs>37</Paragraphs>
  <Slides>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vt:i4>
      </vt:variant>
    </vt:vector>
  </HeadingPairs>
  <TitlesOfParts>
    <vt:vector size="13" baseType="lpstr">
      <vt:lpstr>League Gothic</vt:lpstr>
      <vt:lpstr>Arial</vt:lpstr>
      <vt:lpstr>Canva Sans</vt:lpstr>
      <vt:lpstr>Muli</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NYC VEHICLE COLLISION ANALYSIS</dc:title>
  <cp:lastModifiedBy>Microsoft account</cp:lastModifiedBy>
  <cp:revision>2</cp:revision>
  <dcterms:created xsi:type="dcterms:W3CDTF">2006-08-16T00:00:00Z</dcterms:created>
  <dcterms:modified xsi:type="dcterms:W3CDTF">2026-10-08T09:44:54Z</dcterms:modified>
  <dc:identifier>DAHQ--ts1cY</dc:identifier>
</cp:coreProperties>
</file>